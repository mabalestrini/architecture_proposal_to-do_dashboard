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1" autoAdjust="0"/>
    <p:restoredTop sz="94660"/>
  </p:normalViewPr>
  <p:slideViewPr>
    <p:cSldViewPr showGuides="1">
      <p:cViewPr varScale="1">
        <p:scale>
          <a:sx n="185" d="100"/>
          <a:sy n="185" d="100"/>
        </p:scale>
        <p:origin x="365" y="1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C3FA40-CBEA-4B77-BC59-068D6F91D66D}" type="datetimeFigureOut">
              <a:rPr lang="en-US" smtClean="0"/>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46C15C-0977-44E7-977E-592EFD8FC8EC}" type="slidenum">
              <a:rPr lang="en-US" smtClean="0"/>
              <a:t>‹#›</a:t>
            </a:fld>
            <a:endParaRPr lang="en-US"/>
          </a:p>
        </p:txBody>
      </p:sp>
    </p:spTree>
    <p:extLst>
      <p:ext uri="{BB962C8B-B14F-4D97-AF65-F5344CB8AC3E}">
        <p14:creationId xmlns:p14="http://schemas.microsoft.com/office/powerpoint/2010/main" val="341682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2CD04-FF6C-510E-C4C5-D3ABD7891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6C7DD0-618E-0308-D300-F60F9DB393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2F27D7-B40B-55A1-91C2-DF7EB0C4331E}"/>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5" name="Footer Placeholder 4">
            <a:extLst>
              <a:ext uri="{FF2B5EF4-FFF2-40B4-BE49-F238E27FC236}">
                <a16:creationId xmlns:a16="http://schemas.microsoft.com/office/drawing/2014/main" id="{B548B956-2AD1-9800-3FB0-93E3DB4791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B6356F-76E3-D282-48D2-B82119B92FB5}"/>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1302485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71EAE-3E49-023A-237E-ECE8AD6BA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0D0127-FDB0-3050-8E82-849303EFE0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EAC741-1E65-C026-3130-B46D535FF6F2}"/>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5" name="Footer Placeholder 4">
            <a:extLst>
              <a:ext uri="{FF2B5EF4-FFF2-40B4-BE49-F238E27FC236}">
                <a16:creationId xmlns:a16="http://schemas.microsoft.com/office/drawing/2014/main" id="{BBA2BC52-4C1F-57A4-4932-4FBA579A9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F5CE0-0255-74A1-9C49-3DAD8C8913E2}"/>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1306961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80114-59A8-9B40-2761-7AE02862C8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6E47FB-F4FB-C31E-70CC-EA53929769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A07E9-1551-9157-7CBD-227FC556E538}"/>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5" name="Footer Placeholder 4">
            <a:extLst>
              <a:ext uri="{FF2B5EF4-FFF2-40B4-BE49-F238E27FC236}">
                <a16:creationId xmlns:a16="http://schemas.microsoft.com/office/drawing/2014/main" id="{9AA24338-D8D4-D5AB-889C-E1AD580DD5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0FAAC-2CB4-DA1C-1049-C1A40E560E40}"/>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829489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66D0-B3B8-C36E-5C6E-368BA9C996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BCD568-D3DF-2F2E-1F23-2800CC2F39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C15F6E-473B-33D9-CAB8-922F47C099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9F6661-2FA5-09D8-CD46-365AC46B645D}"/>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6" name="Footer Placeholder 5">
            <a:extLst>
              <a:ext uri="{FF2B5EF4-FFF2-40B4-BE49-F238E27FC236}">
                <a16:creationId xmlns:a16="http://schemas.microsoft.com/office/drawing/2014/main" id="{95482015-F74E-F659-D522-998CC4CE98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FACD2F-828D-7A14-D315-5B468DB3122B}"/>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2172135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29B7D-78FB-443D-CB6C-AA24EC1E7D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CB1BB9-0F8E-7495-8655-0F66A55A5B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1544A-880F-7BF8-B752-F20C7092EE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322729-A358-34A1-BE93-3D2D501FE0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702790-47D3-6A7B-323E-339E4639EC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53AE92-C377-17C0-32C0-422C0B305FED}"/>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8" name="Footer Placeholder 7">
            <a:extLst>
              <a:ext uri="{FF2B5EF4-FFF2-40B4-BE49-F238E27FC236}">
                <a16:creationId xmlns:a16="http://schemas.microsoft.com/office/drawing/2014/main" id="{68A4D9AC-3A80-98B2-1C60-AEC63C6C98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76D658-24BF-3060-BDC8-00BC82F67B55}"/>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8931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FB58-4BA4-5D12-8D59-37E641107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00C45D-AC61-6F19-A648-B8E8B8116C2B}"/>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4" name="Footer Placeholder 3">
            <a:extLst>
              <a:ext uri="{FF2B5EF4-FFF2-40B4-BE49-F238E27FC236}">
                <a16:creationId xmlns:a16="http://schemas.microsoft.com/office/drawing/2014/main" id="{CF9A48FC-81A1-DDDB-F787-2072ACF58C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4BAFA8-8516-F015-4E4A-2B9EBB4FF310}"/>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3518350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FF2AAB-367F-E74A-8FFB-526F468625ED}"/>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3" name="Footer Placeholder 2">
            <a:extLst>
              <a:ext uri="{FF2B5EF4-FFF2-40B4-BE49-F238E27FC236}">
                <a16:creationId xmlns:a16="http://schemas.microsoft.com/office/drawing/2014/main" id="{0E3FDF33-8451-8C3A-9B5E-A5C5DFD1D4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A94054-94C3-C501-3096-03575A7BB790}"/>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746663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F3A-C3AF-E6CD-596A-D9C927894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4A544F-7B64-95FA-0BAB-A2C6CFE770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4DCF0E-CA72-8B1A-5E22-AD2E0B059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5EE7EA-DE84-1DE5-8438-2EC34090D4B4}"/>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6" name="Footer Placeholder 5">
            <a:extLst>
              <a:ext uri="{FF2B5EF4-FFF2-40B4-BE49-F238E27FC236}">
                <a16:creationId xmlns:a16="http://schemas.microsoft.com/office/drawing/2014/main" id="{49A92C48-B76D-BEBA-F93E-D92A6B9F9E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C3EE68-1C0D-E160-035E-9FBA1D69004B}"/>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3080925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22FB1-D292-444E-2C83-2FB1293079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8E266F-755C-15E0-B34F-7683B5FEC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8F5DE1-5473-ACE1-FDAA-F9C669D42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C1A872-6642-A512-D4BC-5E79F614FCEA}"/>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6" name="Footer Placeholder 5">
            <a:extLst>
              <a:ext uri="{FF2B5EF4-FFF2-40B4-BE49-F238E27FC236}">
                <a16:creationId xmlns:a16="http://schemas.microsoft.com/office/drawing/2014/main" id="{9CC7DA09-F219-0D47-C35E-8026E7AA24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461D23-A396-F049-2294-3E48C57779EA}"/>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4027406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FC05B-8B38-9603-A7B9-A285980FEB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D0EBF1-B8C4-4AF5-2CDA-6D7D92A65F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8E3AA9-4DE5-DAB6-ABAB-BB960BF62AB0}"/>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5" name="Footer Placeholder 4">
            <a:extLst>
              <a:ext uri="{FF2B5EF4-FFF2-40B4-BE49-F238E27FC236}">
                <a16:creationId xmlns:a16="http://schemas.microsoft.com/office/drawing/2014/main" id="{E5EE9E7B-3A5B-3CA3-8BF1-43E8965B75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F7BF7-4402-9893-E0A8-9A3110EFB562}"/>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1472782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E469E6-9791-538E-5946-8312DF8B68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ECB370-4ABE-5F67-BF79-0245DA77D4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2A35FF-2CAE-1381-A78C-D5E039EF27E4}"/>
              </a:ext>
            </a:extLst>
          </p:cNvPr>
          <p:cNvSpPr>
            <a:spLocks noGrp="1"/>
          </p:cNvSpPr>
          <p:nvPr>
            <p:ph type="dt" sz="half" idx="10"/>
          </p:nvPr>
        </p:nvSpPr>
        <p:spPr/>
        <p:txBody>
          <a:bodyPr/>
          <a:lstStyle/>
          <a:p>
            <a:fld id="{B0F8A352-1AD0-4584-9087-8E3E7CEFAECC}" type="datetimeFigureOut">
              <a:rPr lang="en-US" smtClean="0"/>
              <a:t>6/11/2026</a:t>
            </a:fld>
            <a:endParaRPr lang="en-US"/>
          </a:p>
        </p:txBody>
      </p:sp>
      <p:sp>
        <p:nvSpPr>
          <p:cNvPr id="5" name="Footer Placeholder 4">
            <a:extLst>
              <a:ext uri="{FF2B5EF4-FFF2-40B4-BE49-F238E27FC236}">
                <a16:creationId xmlns:a16="http://schemas.microsoft.com/office/drawing/2014/main" id="{E7EFEEF6-20C5-0AE9-60C0-46B8469405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AE9A36-D8ED-3EA8-40BB-C9D37C3A3438}"/>
              </a:ext>
            </a:extLst>
          </p:cNvPr>
          <p:cNvSpPr>
            <a:spLocks noGrp="1"/>
          </p:cNvSpPr>
          <p:nvPr>
            <p:ph type="sldNum" sz="quarter" idx="12"/>
          </p:nvPr>
        </p:nvSpPr>
        <p:spPr/>
        <p:txBody>
          <a:bodyPr/>
          <a:lstStyle/>
          <a:p>
            <a:fld id="{42E2455B-96D5-4E3F-AE44-AB3B566D4EA3}" type="slidenum">
              <a:rPr lang="en-US" smtClean="0"/>
              <a:t>‹#›</a:t>
            </a:fld>
            <a:endParaRPr lang="en-US"/>
          </a:p>
        </p:txBody>
      </p:sp>
    </p:spTree>
    <p:extLst>
      <p:ext uri="{BB962C8B-B14F-4D97-AF65-F5344CB8AC3E}">
        <p14:creationId xmlns:p14="http://schemas.microsoft.com/office/powerpoint/2010/main" val="3010454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071E1F9C-216D-37D0-15E9-577C0A917CF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422576"/>
            <a:ext cx="303205" cy="396000"/>
          </a:xfrm>
          <a:prstGeom prst="rect">
            <a:avLst/>
          </a:prstGeom>
        </p:spPr>
      </p:pic>
    </p:spTree>
    <p:extLst>
      <p:ext uri="{BB962C8B-B14F-4D97-AF65-F5344CB8AC3E}">
        <p14:creationId xmlns:p14="http://schemas.microsoft.com/office/powerpoint/2010/main" val="43670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08F1FE-5BD7-7580-232F-CB876F7236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E88BCF-20AB-15CC-BB28-A2E801A671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3AE57D-2DC2-6A6B-3DE0-9A6C0B5195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F8A352-1AD0-4584-9087-8E3E7CEFAECC}" type="datetimeFigureOut">
              <a:rPr lang="en-US" smtClean="0"/>
              <a:t>6/11/2026</a:t>
            </a:fld>
            <a:endParaRPr lang="en-US"/>
          </a:p>
        </p:txBody>
      </p:sp>
      <p:sp>
        <p:nvSpPr>
          <p:cNvPr id="5" name="Footer Placeholder 4">
            <a:extLst>
              <a:ext uri="{FF2B5EF4-FFF2-40B4-BE49-F238E27FC236}">
                <a16:creationId xmlns:a16="http://schemas.microsoft.com/office/drawing/2014/main" id="{CBE61C13-287A-9819-8FCF-77744B80D6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D9E85D-6F27-8841-609B-EB5020CDB7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E2455B-96D5-4E3F-AE44-AB3B566D4EA3}" type="slidenum">
              <a:rPr lang="en-US" smtClean="0"/>
              <a:t>‹#›</a:t>
            </a:fld>
            <a:endParaRPr lang="en-US"/>
          </a:p>
        </p:txBody>
      </p:sp>
    </p:spTree>
    <p:extLst>
      <p:ext uri="{BB962C8B-B14F-4D97-AF65-F5344CB8AC3E}">
        <p14:creationId xmlns:p14="http://schemas.microsoft.com/office/powerpoint/2010/main" val="295473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82880"/>
            <a:ext cx="4572000" cy="256032"/>
          </a:xfrm>
          <a:prstGeom prst="rect">
            <a:avLst/>
          </a:prstGeom>
          <a:noFill/>
          <a:ln/>
        </p:spPr>
        <p:txBody>
          <a:bodyPr wrap="square" lIns="0" tIns="0" rIns="0" bIns="0" rtlCol="0" anchor="ctr"/>
          <a:lstStyle/>
          <a:p>
            <a:pPr marL="0" indent="0">
              <a:buNone/>
            </a:pPr>
            <a:r>
              <a:rPr lang="en-US" sz="1200" b="1" kern="0" spc="300" dirty="0">
                <a:solidFill>
                  <a:srgbClr val="6B7280"/>
                </a:solidFill>
                <a:latin typeface="Calibri" pitchFamily="34" charset="0"/>
                <a:ea typeface="Calibri" pitchFamily="34" charset="-122"/>
                <a:cs typeface="Calibri" pitchFamily="34" charset="-120"/>
              </a:rPr>
              <a:t>A · DESIGN &amp; OPERATIONAL</a:t>
            </a:r>
            <a:endParaRPr lang="en-US" sz="1200" dirty="0"/>
          </a:p>
        </p:txBody>
      </p:sp>
      <p:sp>
        <p:nvSpPr>
          <p:cNvPr id="3" name="Text 1"/>
          <p:cNvSpPr/>
          <p:nvPr/>
        </p:nvSpPr>
        <p:spPr>
          <a:xfrm>
            <a:off x="4572000" y="182880"/>
            <a:ext cx="5943600" cy="256032"/>
          </a:xfrm>
          <a:prstGeom prst="rect">
            <a:avLst/>
          </a:prstGeom>
          <a:noFill/>
          <a:ln/>
        </p:spPr>
        <p:txBody>
          <a:bodyPr wrap="square" lIns="0" tIns="0" rIns="0" bIns="0" rtlCol="0" anchor="ctr"/>
          <a:lstStyle/>
          <a:p>
            <a:pPr marL="0" indent="0" algn="r">
              <a:buNone/>
            </a:pPr>
            <a:r>
              <a:rPr lang="en-US" sz="1200" dirty="0">
                <a:solidFill>
                  <a:srgbClr val="6B7280"/>
                </a:solidFill>
                <a:latin typeface="Calibri" pitchFamily="34" charset="0"/>
                <a:ea typeface="Calibri" pitchFamily="34" charset="-122"/>
                <a:cs typeface="Calibri" pitchFamily="34" charset="-120"/>
              </a:rPr>
              <a:t>Reference Architecture — Network  |  Principles</a:t>
            </a:r>
            <a:endParaRPr lang="en-US" sz="1200" dirty="0"/>
          </a:p>
        </p:txBody>
      </p:sp>
      <p:sp>
        <p:nvSpPr>
          <p:cNvPr id="4" name="Shape 2"/>
          <p:cNvSpPr/>
          <p:nvPr/>
        </p:nvSpPr>
        <p:spPr>
          <a:xfrm>
            <a:off x="10744200" y="155448"/>
            <a:ext cx="1005840" cy="274320"/>
          </a:xfrm>
          <a:prstGeom prst="roundRect">
            <a:avLst>
              <a:gd name="adj" fmla="val 50000"/>
            </a:avLst>
          </a:prstGeom>
          <a:solidFill>
            <a:srgbClr val="FEF3C7"/>
          </a:solidFill>
          <a:ln w="12700">
            <a:solidFill>
              <a:srgbClr val="FEF3C7"/>
            </a:solidFill>
            <a:prstDash val="solid"/>
          </a:ln>
        </p:spPr>
        <p:txBody>
          <a:bodyPr anchor="ctr"/>
          <a:lstStyle/>
          <a:p>
            <a:pPr algn="ctr"/>
            <a:r>
              <a:rPr lang="en-US" sz="900" dirty="0">
                <a:latin typeface="Calibri" panose="020F0502020204030204" pitchFamily="34" charset="0"/>
                <a:ea typeface="Calibri" panose="020F0502020204030204" pitchFamily="34" charset="0"/>
                <a:cs typeface="Calibri" panose="020F0502020204030204" pitchFamily="34" charset="0"/>
              </a:rPr>
              <a:t>Refactored</a:t>
            </a:r>
          </a:p>
        </p:txBody>
      </p:sp>
      <p:sp>
        <p:nvSpPr>
          <p:cNvPr id="6" name="Shape 4"/>
          <p:cNvSpPr/>
          <p:nvPr/>
        </p:nvSpPr>
        <p:spPr>
          <a:xfrm>
            <a:off x="365760" y="620688"/>
            <a:ext cx="11460175" cy="0"/>
          </a:xfrm>
          <a:prstGeom prst="line">
            <a:avLst/>
          </a:prstGeom>
          <a:noFill/>
          <a:ln w="6350">
            <a:solidFill>
              <a:srgbClr val="D1D5DB"/>
            </a:solidFill>
            <a:prstDash val="solid"/>
          </a:ln>
        </p:spPr>
        <p:txBody>
          <a:bodyPr/>
          <a:lstStyle/>
          <a:p>
            <a:endParaRPr lang="en-US"/>
          </a:p>
        </p:txBody>
      </p:sp>
      <p:sp>
        <p:nvSpPr>
          <p:cNvPr id="7" name="Text 5"/>
          <p:cNvSpPr/>
          <p:nvPr/>
        </p:nvSpPr>
        <p:spPr>
          <a:xfrm>
            <a:off x="365760" y="685800"/>
            <a:ext cx="3657600" cy="256032"/>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PRINCIPLE  05</a:t>
            </a:r>
            <a:endParaRPr lang="en-US" sz="1200" dirty="0"/>
          </a:p>
        </p:txBody>
      </p:sp>
      <p:sp>
        <p:nvSpPr>
          <p:cNvPr id="8" name="Text 6"/>
          <p:cNvSpPr/>
          <p:nvPr/>
        </p:nvSpPr>
        <p:spPr>
          <a:xfrm>
            <a:off x="365760" y="1024128"/>
            <a:ext cx="11460175" cy="713232"/>
          </a:xfrm>
          <a:prstGeom prst="rect">
            <a:avLst/>
          </a:prstGeom>
          <a:noFill/>
          <a:ln/>
        </p:spPr>
        <p:txBody>
          <a:bodyPr wrap="square" lIns="0" tIns="0" rIns="0" bIns="0" rtlCol="0" anchor="ctr"/>
          <a:lstStyle/>
          <a:p>
            <a:pPr marL="0" indent="0">
              <a:buNone/>
            </a:pPr>
            <a:r>
              <a:rPr lang="en-US" sz="3200" b="1" dirty="0">
                <a:solidFill>
                  <a:srgbClr val="1A1A1A"/>
                </a:solidFill>
                <a:latin typeface="Calibri" pitchFamily="34" charset="0"/>
                <a:ea typeface="Calibri" pitchFamily="34" charset="-122"/>
                <a:cs typeface="Calibri" pitchFamily="34" charset="-120"/>
              </a:rPr>
              <a:t>Observable</a:t>
            </a:r>
            <a:endParaRPr lang="en-US" sz="3200" dirty="0"/>
          </a:p>
        </p:txBody>
      </p:sp>
      <p:sp>
        <p:nvSpPr>
          <p:cNvPr id="9" name="Shape 7"/>
          <p:cNvSpPr/>
          <p:nvPr/>
        </p:nvSpPr>
        <p:spPr>
          <a:xfrm>
            <a:off x="365760" y="1874520"/>
            <a:ext cx="36576" cy="658368"/>
          </a:xfrm>
          <a:prstGeom prst="rect">
            <a:avLst/>
          </a:prstGeom>
          <a:solidFill>
            <a:srgbClr val="D1D5DB"/>
          </a:solidFill>
          <a:ln w="12700">
            <a:solidFill>
              <a:srgbClr val="D1D5DB"/>
            </a:solidFill>
            <a:prstDash val="solid"/>
          </a:ln>
        </p:spPr>
        <p:txBody>
          <a:bodyPr/>
          <a:lstStyle/>
          <a:p>
            <a:endParaRPr lang="en-US"/>
          </a:p>
        </p:txBody>
      </p:sp>
      <p:sp>
        <p:nvSpPr>
          <p:cNvPr id="10" name="Text 8"/>
          <p:cNvSpPr/>
          <p:nvPr/>
        </p:nvSpPr>
        <p:spPr>
          <a:xfrm>
            <a:off x="530352" y="1874520"/>
            <a:ext cx="11155680" cy="658368"/>
          </a:xfrm>
          <a:prstGeom prst="rect">
            <a:avLst/>
          </a:prstGeom>
          <a:noFill/>
          <a:ln/>
        </p:spPr>
        <p:txBody>
          <a:bodyPr wrap="square" lIns="0" tIns="0" rIns="0" bIns="0"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Network state — availability, performance and security — is continuously measured, correlated and made actionable.</a:t>
            </a:r>
            <a:endParaRPr lang="en-US" sz="1600" dirty="0"/>
          </a:p>
        </p:txBody>
      </p:sp>
      <p:sp>
        <p:nvSpPr>
          <p:cNvPr id="11" name="Text 9"/>
          <p:cNvSpPr/>
          <p:nvPr/>
        </p:nvSpPr>
        <p:spPr>
          <a:xfrm>
            <a:off x="365760" y="2724912"/>
            <a:ext cx="4297680" cy="219456"/>
          </a:xfrm>
          <a:prstGeom prst="rect">
            <a:avLst/>
          </a:prstGeom>
          <a:noFill/>
          <a:ln/>
        </p:spPr>
        <p:txBody>
          <a:bodyPr wrap="square" lIns="0" tIns="0" rIns="0" bIns="0"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RATIONALE</a:t>
            </a:r>
            <a:endParaRPr lang="en-US" sz="1000" dirty="0"/>
          </a:p>
        </p:txBody>
      </p:sp>
      <p:sp>
        <p:nvSpPr>
          <p:cNvPr id="12" name="Shape 10"/>
          <p:cNvSpPr/>
          <p:nvPr/>
        </p:nvSpPr>
        <p:spPr>
          <a:xfrm>
            <a:off x="365760" y="2980944"/>
            <a:ext cx="4297680" cy="0"/>
          </a:xfrm>
          <a:prstGeom prst="line">
            <a:avLst/>
          </a:prstGeom>
          <a:noFill/>
          <a:ln w="6350">
            <a:solidFill>
              <a:srgbClr val="D1D5DB"/>
            </a:solidFill>
            <a:prstDash val="solid"/>
          </a:ln>
        </p:spPr>
        <p:txBody>
          <a:bodyPr/>
          <a:lstStyle/>
          <a:p>
            <a:endParaRPr lang="en-US"/>
          </a:p>
        </p:txBody>
      </p:sp>
      <p:sp>
        <p:nvSpPr>
          <p:cNvPr id="13" name="Text 11"/>
          <p:cNvSpPr/>
          <p:nvPr/>
        </p:nvSpPr>
        <p:spPr>
          <a:xfrm>
            <a:off x="365760" y="3072384"/>
            <a:ext cx="4297680" cy="2121408"/>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Without continuous visibility into what the network is doing, anomalies go undetected, capacity problems surface too late, and incident response is reactive rather than proactive. Observability is the foundation of operational control.</a:t>
            </a:r>
            <a:endParaRPr lang="en-US" sz="1300" dirty="0"/>
          </a:p>
        </p:txBody>
      </p:sp>
      <p:sp>
        <p:nvSpPr>
          <p:cNvPr id="14" name="Text 12"/>
          <p:cNvSpPr/>
          <p:nvPr/>
        </p:nvSpPr>
        <p:spPr>
          <a:xfrm>
            <a:off x="4937760" y="2724912"/>
            <a:ext cx="6858000" cy="219456"/>
          </a:xfrm>
          <a:prstGeom prst="rect">
            <a:avLst/>
          </a:prstGeom>
          <a:noFill/>
          <a:ln/>
        </p:spPr>
        <p:txBody>
          <a:bodyPr wrap="square" lIns="0" tIns="0" rIns="0" bIns="0"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IMPLEMENTATION</a:t>
            </a:r>
            <a:endParaRPr lang="en-US" sz="1000" dirty="0"/>
          </a:p>
        </p:txBody>
      </p:sp>
      <p:sp>
        <p:nvSpPr>
          <p:cNvPr id="15" name="Shape 13"/>
          <p:cNvSpPr/>
          <p:nvPr/>
        </p:nvSpPr>
        <p:spPr>
          <a:xfrm>
            <a:off x="4937760" y="2980944"/>
            <a:ext cx="6858000" cy="0"/>
          </a:xfrm>
          <a:prstGeom prst="line">
            <a:avLst/>
          </a:prstGeom>
          <a:noFill/>
          <a:ln w="6350">
            <a:solidFill>
              <a:srgbClr val="D1D5DB"/>
            </a:solidFill>
            <a:prstDash val="solid"/>
          </a:ln>
        </p:spPr>
        <p:txBody>
          <a:bodyPr/>
          <a:lstStyle/>
          <a:p>
            <a:endParaRPr lang="en-US"/>
          </a:p>
        </p:txBody>
      </p:sp>
      <p:sp>
        <p:nvSpPr>
          <p:cNvPr id="16" name="Text 14"/>
          <p:cNvSpPr/>
          <p:nvPr/>
        </p:nvSpPr>
        <p:spPr>
          <a:xfrm>
            <a:off x="4937760" y="3072384"/>
            <a:ext cx="6858000" cy="2377440"/>
          </a:xfrm>
          <a:prstGeom prst="rect">
            <a:avLst/>
          </a:prstGeom>
          <a:noFill/>
          <a:ln/>
        </p:spPr>
        <p:txBody>
          <a:bodyPr wrap="square" lIns="0" tIns="0" rIns="0" bIns="0" rtlCol="0" anchor="t"/>
          <a:lstStyle/>
          <a:p>
            <a:pPr marL="0" indent="0">
              <a:buNone/>
            </a:pPr>
            <a:r>
              <a:rPr lang="en-US" sz="1300" b="1" dirty="0">
                <a:solidFill>
                  <a:srgbClr val="2D6A2D"/>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Availability monitoring: dedicated NMS platform (Spectrum); alert de-duplication and correlation via AIOps tooling (BigPanda).</a:t>
            </a:r>
            <a:endParaRPr lang="en-US" sz="1300" dirty="0"/>
          </a:p>
          <a:p>
            <a:pPr marL="0" indent="0">
              <a:buNone/>
            </a:pPr>
            <a:r>
              <a:rPr lang="en-US" sz="1300" b="1" dirty="0">
                <a:solidFill>
                  <a:srgbClr val="2D6A2D"/>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Performance: NetFlow analytics (CA NetFlow) for capacity and path behaviour.</a:t>
            </a:r>
            <a:endParaRPr lang="en-US" sz="1300" dirty="0"/>
          </a:p>
          <a:p>
            <a:r>
              <a:rPr lang="en-US" sz="1300" b="1" dirty="0">
                <a:solidFill>
                  <a:srgbClr val="B91C1C"/>
                </a:solidFill>
                <a:latin typeface="Calibri" pitchFamily="34" charset="0"/>
                <a:ea typeface="Calibri" pitchFamily="34" charset="-122"/>
                <a:cs typeface="Calibri" pitchFamily="34" charset="-120"/>
              </a:rPr>
              <a:t>?</a:t>
            </a:r>
            <a:r>
              <a:rPr lang="en-US" sz="1300" b="1" dirty="0">
                <a:solidFill>
                  <a:srgbClr val="92400E"/>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Security telemetry: firewall, proxy and IDPS logs consolidated; NDR and SIEM integration.</a:t>
            </a:r>
            <a:endParaRPr lang="en-US" sz="1300" dirty="0"/>
          </a:p>
          <a:p>
            <a:pPr marL="0" indent="0">
              <a:buNone/>
            </a:pPr>
            <a:r>
              <a:rPr lang="en-US" sz="1300" b="1" dirty="0">
                <a:solidFill>
                  <a:srgbClr val="B91C1C"/>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Defined SLIs/SLOs; alerting routed to ticketing and on-call.
</a:t>
            </a:r>
            <a:endParaRPr lang="en-US" sz="1300" dirty="0"/>
          </a:p>
          <a:p>
            <a:pPr marL="0" indent="0">
              <a:buNone/>
            </a:pPr>
            <a:r>
              <a:rPr lang="en-US" sz="1300" b="1" i="1" dirty="0">
                <a:solidFill>
                  <a:srgbClr val="6B7280"/>
                </a:solidFill>
                <a:latin typeface="Calibri" pitchFamily="34" charset="0"/>
                <a:ea typeface="Calibri" pitchFamily="34" charset="-122"/>
                <a:cs typeface="Calibri" pitchFamily="34" charset="-120"/>
              </a:rPr>
              <a:t>ISO  </a:t>
            </a:r>
            <a:r>
              <a:rPr lang="en-US" sz="1300" i="1" dirty="0">
                <a:solidFill>
                  <a:srgbClr val="1A1A1A"/>
                </a:solidFill>
                <a:latin typeface="Calibri" pitchFamily="34" charset="0"/>
                <a:ea typeface="Calibri" pitchFamily="34" charset="-122"/>
                <a:cs typeface="Calibri" pitchFamily="34" charset="-120"/>
              </a:rPr>
              <a:t>5.33 — Log retention period defined; logs protected from tampering and deletion; available for audit on demand.</a:t>
            </a:r>
            <a:endParaRPr lang="en-US" sz="1300" dirty="0"/>
          </a:p>
        </p:txBody>
      </p:sp>
      <p:sp>
        <p:nvSpPr>
          <p:cNvPr id="17" name="Shape 15"/>
          <p:cNvSpPr/>
          <p:nvPr/>
        </p:nvSpPr>
        <p:spPr>
          <a:xfrm>
            <a:off x="9683337" y="6062432"/>
            <a:ext cx="2011680" cy="246888"/>
          </a:xfrm>
          <a:prstGeom prst="roundRect">
            <a:avLst>
              <a:gd name="adj" fmla="val 51852"/>
            </a:avLst>
          </a:prstGeom>
          <a:solidFill>
            <a:srgbClr val="F3F4F6"/>
          </a:solidFill>
          <a:ln w="12700">
            <a:solidFill>
              <a:srgbClr val="E5E7EB"/>
            </a:solidFill>
            <a:prstDash val="solid"/>
          </a:ln>
        </p:spPr>
        <p:txBody>
          <a:bodyPr anchor="ctr"/>
          <a:lstStyle/>
          <a:p>
            <a:pPr algn="ctr"/>
            <a:r>
              <a:rPr lang="en-US" sz="900">
                <a:solidFill>
                  <a:srgbClr val="6B7280"/>
                </a:solidFill>
                <a:latin typeface="Calibri" pitchFamily="34" charset="0"/>
                <a:ea typeface="Calibri" pitchFamily="34" charset="-122"/>
                <a:cs typeface="Calibri" pitchFamily="34" charset="-120"/>
              </a:rPr>
              <a:t>ISO 27001  ·  5.33</a:t>
            </a:r>
            <a:endParaRPr lang="en-US" sz="900" dirty="0">
              <a:solidFill>
                <a:srgbClr val="6B7280"/>
              </a:solidFill>
              <a:latin typeface="Calibri" pitchFamily="34" charset="0"/>
              <a:ea typeface="Calibri" pitchFamily="34" charset="-122"/>
              <a:cs typeface="Calibri" pitchFamily="34" charset="-120"/>
            </a:endParaRPr>
          </a:p>
        </p:txBody>
      </p:sp>
      <p:sp>
        <p:nvSpPr>
          <p:cNvPr id="19" name="Shape 17"/>
          <p:cNvSpPr/>
          <p:nvPr/>
        </p:nvSpPr>
        <p:spPr>
          <a:xfrm>
            <a:off x="7322515" y="6062432"/>
            <a:ext cx="2286000" cy="246888"/>
          </a:xfrm>
          <a:prstGeom prst="roundRect">
            <a:avLst>
              <a:gd name="adj" fmla="val 51852"/>
            </a:avLst>
          </a:prstGeom>
          <a:solidFill>
            <a:srgbClr val="F3F4F6"/>
          </a:solidFill>
          <a:ln w="12700">
            <a:solidFill>
              <a:srgbClr val="E5E7EB"/>
            </a:solidFill>
            <a:prstDash val="solid"/>
          </a:ln>
        </p:spPr>
        <p:txBody>
          <a:bodyPr anchor="ctr"/>
          <a:lstStyle/>
          <a:p>
            <a:pPr algn="ctr"/>
            <a:r>
              <a:rPr lang="en-US" sz="900" dirty="0">
                <a:solidFill>
                  <a:srgbClr val="6B7280"/>
                </a:solidFill>
                <a:latin typeface="Calibri" pitchFamily="34" charset="0"/>
                <a:ea typeface="Calibri" pitchFamily="34" charset="-122"/>
                <a:cs typeface="Calibri" pitchFamily="34" charset="-120"/>
              </a:rPr>
              <a:t>DORA  Art. 10, 17</a:t>
            </a:r>
            <a:endParaRPr lang="en-US" sz="900" dirty="0"/>
          </a:p>
        </p:txBody>
      </p:sp>
      <p:sp>
        <p:nvSpPr>
          <p:cNvPr id="21" name="Text 19"/>
          <p:cNvSpPr/>
          <p:nvPr/>
        </p:nvSpPr>
        <p:spPr>
          <a:xfrm>
            <a:off x="365760" y="6051381"/>
            <a:ext cx="1463040" cy="246888"/>
          </a:xfrm>
          <a:prstGeom prst="rect">
            <a:avLst/>
          </a:prstGeom>
          <a:noFill/>
          <a:ln/>
        </p:spPr>
        <p:txBody>
          <a:bodyPr wrap="square" lIns="0" tIns="0" rIns="0" bIns="0" rtlCol="0" anchor="ctr"/>
          <a:lstStyle/>
          <a:p>
            <a:pPr marL="0" indent="0">
              <a:buNone/>
            </a:pPr>
            <a:r>
              <a:rPr lang="en-US" sz="900" b="1" dirty="0">
                <a:solidFill>
                  <a:srgbClr val="2D6A2D"/>
                </a:solidFill>
                <a:latin typeface="Calibri" pitchFamily="34" charset="0"/>
                <a:ea typeface="Calibri" pitchFamily="34" charset="-122"/>
                <a:cs typeface="Calibri" pitchFamily="34" charset="-120"/>
              </a:rPr>
              <a:t>✓ </a:t>
            </a:r>
            <a:r>
              <a:rPr lang="en-US" sz="900" dirty="0">
                <a:solidFill>
                  <a:srgbClr val="6B7280"/>
                </a:solidFill>
                <a:latin typeface="Calibri" pitchFamily="34" charset="0"/>
                <a:ea typeface="Calibri" pitchFamily="34" charset="-122"/>
                <a:cs typeface="Calibri" pitchFamily="34" charset="-120"/>
              </a:rPr>
              <a:t>Confirmed</a:t>
            </a:r>
            <a:endParaRPr lang="en-US" sz="900" dirty="0"/>
          </a:p>
        </p:txBody>
      </p:sp>
      <p:sp>
        <p:nvSpPr>
          <p:cNvPr id="23" name="Text 21"/>
          <p:cNvSpPr/>
          <p:nvPr/>
        </p:nvSpPr>
        <p:spPr>
          <a:xfrm>
            <a:off x="1176576" y="6051381"/>
            <a:ext cx="1463040" cy="246888"/>
          </a:xfrm>
          <a:prstGeom prst="rect">
            <a:avLst/>
          </a:prstGeom>
          <a:noFill/>
          <a:ln/>
        </p:spPr>
        <p:txBody>
          <a:bodyPr wrap="square" lIns="0" tIns="0" rIns="0" bIns="0" rtlCol="0" anchor="ctr"/>
          <a:lstStyle/>
          <a:p>
            <a:pPr marL="0" indent="0">
              <a:buNone/>
            </a:pPr>
            <a:r>
              <a:rPr lang="en-US" sz="900" b="1" dirty="0">
                <a:solidFill>
                  <a:srgbClr val="B91C1C"/>
                </a:solidFill>
                <a:latin typeface="Calibri" pitchFamily="34" charset="0"/>
                <a:ea typeface="Calibri" pitchFamily="34" charset="-122"/>
                <a:cs typeface="Calibri" pitchFamily="34" charset="-120"/>
              </a:rPr>
              <a:t>? </a:t>
            </a:r>
            <a:r>
              <a:rPr lang="en-US" sz="900" dirty="0">
                <a:solidFill>
                  <a:srgbClr val="6B7280"/>
                </a:solidFill>
                <a:latin typeface="Calibri" pitchFamily="34" charset="0"/>
                <a:ea typeface="Calibri" pitchFamily="34" charset="-122"/>
                <a:cs typeface="Calibri" pitchFamily="34" charset="-120"/>
              </a:rPr>
              <a:t>To be checked</a:t>
            </a:r>
            <a:endParaRPr lang="en-US" sz="900" dirty="0"/>
          </a:p>
        </p:txBody>
      </p:sp>
      <p:sp>
        <p:nvSpPr>
          <p:cNvPr id="24" name="Shape 22"/>
          <p:cNvSpPr/>
          <p:nvPr/>
        </p:nvSpPr>
        <p:spPr>
          <a:xfrm>
            <a:off x="365760" y="6446520"/>
            <a:ext cx="11460175" cy="0"/>
          </a:xfrm>
          <a:prstGeom prst="line">
            <a:avLst/>
          </a:prstGeom>
          <a:noFill/>
          <a:ln w="6350">
            <a:solidFill>
              <a:srgbClr val="D1D5DB"/>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176</Words>
  <Application>Microsoft Office PowerPoint</Application>
  <PresentationFormat>Widescreen</PresentationFormat>
  <Paragraphs>19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BALESTRINI Marcelo</dc:creator>
  <cp:lastModifiedBy>BALESTRINI Marcelo</cp:lastModifiedBy>
  <cp:revision>1</cp:revision>
  <dcterms:created xsi:type="dcterms:W3CDTF">2026-06-11T13:01:30Z</dcterms:created>
  <dcterms:modified xsi:type="dcterms:W3CDTF">2026-06-11T13:02:51Z</dcterms:modified>
</cp:coreProperties>
</file>